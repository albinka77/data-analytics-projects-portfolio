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52" r:id="rId5"/>
  </p:sldMasterIdLst>
  <p:notesMasterIdLst>
    <p:notesMasterId r:id="rId24"/>
  </p:notesMasterIdLst>
  <p:sldIdLst>
    <p:sldId id="401" r:id="rId6"/>
    <p:sldId id="402" r:id="rId7"/>
    <p:sldId id="403" r:id="rId8"/>
    <p:sldId id="396" r:id="rId9"/>
    <p:sldId id="397" r:id="rId10"/>
    <p:sldId id="423" r:id="rId11"/>
    <p:sldId id="415" r:id="rId12"/>
    <p:sldId id="411" r:id="rId13"/>
    <p:sldId id="417" r:id="rId14"/>
    <p:sldId id="412" r:id="rId15"/>
    <p:sldId id="413" r:id="rId16"/>
    <p:sldId id="416" r:id="rId17"/>
    <p:sldId id="419" r:id="rId18"/>
    <p:sldId id="420" r:id="rId19"/>
    <p:sldId id="421" r:id="rId20"/>
    <p:sldId id="422" r:id="rId21"/>
    <p:sldId id="414" r:id="rId22"/>
    <p:sldId id="40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5AE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6" autoAdjust="0"/>
    <p:restoredTop sz="96208" autoAdjust="0"/>
  </p:normalViewPr>
  <p:slideViewPr>
    <p:cSldViewPr snapToGrid="0">
      <p:cViewPr varScale="1">
        <p:scale>
          <a:sx n="81" d="100"/>
          <a:sy n="81" d="100"/>
        </p:scale>
        <p:origin x="614" y="62"/>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05-Aug-25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dirty="0"/>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endParaRPr lang="en-US" dirty="0"/>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dirty="0"/>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dirty="0"/>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dirty="0"/>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05-Aug-25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
        <p:nvSpPr>
          <p:cNvPr id="4" name="Freeform: Shape 3" descr="Tag=AccentColor&#10;Flavor=Light&#10;Target=Fill">
            <a:extLst>
              <a:ext uri="{FF2B5EF4-FFF2-40B4-BE49-F238E27FC236}">
                <a16:creationId xmlns:a16="http://schemas.microsoft.com/office/drawing/2014/main" id="{7B9B290E-1845-5125-9910-2A2DCE5F2D31}"/>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3325622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05-Aug-25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135910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05-Aug-25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96037245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05-Aug-25</a:t>
            </a:fld>
            <a:endParaRPr lang="en-US" dirty="0"/>
          </a:p>
        </p:txBody>
      </p:sp>
      <p:sp>
        <p:nvSpPr>
          <p:cNvPr id="9" name="Footer Placeholder 8"/>
          <p:cNvSpPr>
            <a:spLocks noGrp="1"/>
          </p:cNvSpPr>
          <p:nvPr>
            <p:ph type="ftr" sz="quarter" idx="11"/>
          </p:nvPr>
        </p:nvSpPr>
        <p:spPr/>
        <p:txBody>
          <a:bodyPr/>
          <a:lstStyle/>
          <a:p>
            <a:r>
              <a:rPr lang="en-US"/>
              <a:t>Presentation Title</a:t>
            </a:r>
            <a:endParaRPr lang="en-US" dirty="0"/>
          </a:p>
        </p:txBody>
      </p:sp>
      <p:sp>
        <p:nvSpPr>
          <p:cNvPr id="10" name="Slide Number Placeholder 9"/>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770023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r>
              <a:rPr lang="en-US"/>
              <a:t>9/3/20XX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17027049"/>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9/3/20XX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5151287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05-Aug-25</a:t>
            </a:fld>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236554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05-Aug-25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Presentation Title</a:t>
            </a:r>
            <a:endParaRPr lang="en-US" dirty="0"/>
          </a:p>
        </p:txBody>
      </p:sp>
      <p:sp>
        <p:nvSpPr>
          <p:cNvPr id="11" name="Slide Number Placeholder 10"/>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296311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05-Aug-25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n-US"/>
              <a:t>Presentation Title</a:t>
            </a:r>
            <a:endParaRPr lang="en-US" dirty="0"/>
          </a:p>
        </p:txBody>
      </p:sp>
      <p:sp>
        <p:nvSpPr>
          <p:cNvPr id="10" name="Slide Number Placeholder 9"/>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1268062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464785308"/>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135974920"/>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dirty="0"/>
              <a:t>Click to edit Master text styles</a:t>
            </a:r>
          </a:p>
        </p:txBody>
      </p:sp>
    </p:spTree>
    <p:extLst>
      <p:ext uri="{BB962C8B-B14F-4D97-AF65-F5344CB8AC3E}">
        <p14:creationId xmlns:p14="http://schemas.microsoft.com/office/powerpoint/2010/main" val="39516751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endParaRPr lang="en-US" dirty="0"/>
          </a:p>
        </p:txBody>
      </p:sp>
    </p:spTree>
    <p:extLst>
      <p:ext uri="{BB962C8B-B14F-4D97-AF65-F5344CB8AC3E}">
        <p14:creationId xmlns:p14="http://schemas.microsoft.com/office/powerpoint/2010/main" val="13155675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dirty="0"/>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dirty="0"/>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dirty="0"/>
              <a:t>Click to edit Master text styles</a:t>
            </a:r>
          </a:p>
        </p:txBody>
      </p:sp>
    </p:spTree>
    <p:extLst>
      <p:ext uri="{BB962C8B-B14F-4D97-AF65-F5344CB8AC3E}">
        <p14:creationId xmlns:p14="http://schemas.microsoft.com/office/powerpoint/2010/main" val="286947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r>
              <a:rPr lang="en-US"/>
              <a:t>9/3/20XX</a:t>
            </a:r>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53631551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72" r:id="rId14"/>
  </p:sldLayoutIdLst>
  <p:hf hdr="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hyperlink" Target="https://s4be.cochrane.org/blog/2015/07/24/nominal-ordinal-numerical-variables/" TargetMode="External"/><Relationship Id="rId7" Type="http://schemas.openxmlformats.org/officeDocument/2006/relationships/hyperlink" Target="https://www.eternalworks.com/blog/4-growth-business-strategies-for-tech-companies" TargetMode="External"/><Relationship Id="rId2" Type="http://schemas.openxmlformats.org/officeDocument/2006/relationships/image" Target="../media/image4.jpg"/><Relationship Id="rId1" Type="http://schemas.openxmlformats.org/officeDocument/2006/relationships/slideLayout" Target="../slideLayouts/slideLayout29.xml"/><Relationship Id="rId6" Type="http://schemas.openxmlformats.org/officeDocument/2006/relationships/image" Target="../media/image6.jpg"/><Relationship Id="rId5" Type="http://schemas.openxmlformats.org/officeDocument/2006/relationships/hyperlink" Target="https://cecupbkmrsmps.blogspot.com/2019/05/potensi-kerjaya-teknologi-digital.html" TargetMode="Externa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hyperlink" Target="https://pxhere.com/th/photo/949476" TargetMode="External"/><Relationship Id="rId2" Type="http://schemas.openxmlformats.org/officeDocument/2006/relationships/image" Target="../media/image20.jp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385934" y="1861888"/>
            <a:ext cx="6801612" cy="3511296"/>
          </a:xfrm>
        </p:spPr>
        <p:txBody>
          <a:bodyPr/>
          <a:lstStyle/>
          <a:p>
            <a:r>
              <a:rPr lang="en-US" dirty="0"/>
              <a:t>Capstone Project : End-to-End </a:t>
            </a:r>
            <a:br>
              <a:rPr lang="en-US" dirty="0"/>
            </a:br>
            <a:r>
              <a:rPr lang="en-US" i="1" dirty="0"/>
              <a:t>Data Science Project</a:t>
            </a:r>
          </a:p>
        </p:txBody>
      </p:sp>
      <p:sp>
        <p:nvSpPr>
          <p:cNvPr id="4" name="Rectangle: Folded Corner 3">
            <a:extLst>
              <a:ext uri="{FF2B5EF4-FFF2-40B4-BE49-F238E27FC236}">
                <a16:creationId xmlns:a16="http://schemas.microsoft.com/office/drawing/2014/main" id="{2F6318F9-56BC-6CBA-FFB0-1BA1107995EE}"/>
              </a:ext>
            </a:extLst>
          </p:cNvPr>
          <p:cNvSpPr/>
          <p:nvPr/>
        </p:nvSpPr>
        <p:spPr>
          <a:xfrm>
            <a:off x="8348869" y="4005468"/>
            <a:ext cx="3260035" cy="2206487"/>
          </a:xfrm>
          <a:prstGeom prst="foldedCorner">
            <a:avLst>
              <a:gd name="adj" fmla="val 29280"/>
            </a:avLst>
          </a:prstGeom>
          <a:ln>
            <a:noFill/>
          </a:ln>
        </p:spPr>
        <p:style>
          <a:lnRef idx="2">
            <a:schemeClr val="accent1">
              <a:shade val="15000"/>
            </a:schemeClr>
          </a:lnRef>
          <a:fillRef idx="1003">
            <a:schemeClr val="dk2"/>
          </a:fillRef>
          <a:effectRef idx="0">
            <a:schemeClr val="accent1"/>
          </a:effectRef>
          <a:fontRef idx="minor">
            <a:schemeClr val="lt1"/>
          </a:fontRef>
        </p:style>
        <p:txBody>
          <a:bodyPr rtlCol="0" anchor="ctr"/>
          <a:lstStyle/>
          <a:p>
            <a:pPr algn="ctr">
              <a:lnSpc>
                <a:spcPct val="150000"/>
              </a:lnSpc>
            </a:pPr>
            <a:endParaRPr lang="en-US" dirty="0"/>
          </a:p>
          <a:p>
            <a:pPr algn="ctr">
              <a:lnSpc>
                <a:spcPct val="150000"/>
              </a:lnSpc>
            </a:pPr>
            <a:endParaRPr lang="en-US" dirty="0"/>
          </a:p>
          <a:p>
            <a:pPr algn="ctr">
              <a:lnSpc>
                <a:spcPct val="150000"/>
              </a:lnSpc>
            </a:pPr>
            <a:r>
              <a:rPr lang="en-US" b="1" dirty="0"/>
              <a:t>ALBIN K A</a:t>
            </a:r>
          </a:p>
          <a:p>
            <a:pPr algn="ctr">
              <a:lnSpc>
                <a:spcPct val="150000"/>
              </a:lnSpc>
            </a:pPr>
            <a:r>
              <a:rPr lang="en-US" b="1" dirty="0"/>
              <a:t>DA DS DEC 2024</a:t>
            </a:r>
          </a:p>
          <a:p>
            <a:pPr algn="ctr">
              <a:lnSpc>
                <a:spcPct val="150000"/>
              </a:lnSpc>
            </a:pPr>
            <a:r>
              <a:rPr lang="en-US" b="1" dirty="0"/>
              <a:t>05/08/2025</a:t>
            </a:r>
          </a:p>
          <a:p>
            <a:pPr algn="ctr">
              <a:lnSpc>
                <a:spcPct val="150000"/>
              </a:lnSpc>
            </a:pPr>
            <a:endParaRPr lang="en-IN" dirty="0"/>
          </a:p>
        </p:txBody>
      </p:sp>
      <p:sp>
        <p:nvSpPr>
          <p:cNvPr id="12" name="AutoShape 2" descr="Logo Python PNG transparente - StickPNG">
            <a:extLst>
              <a:ext uri="{FF2B5EF4-FFF2-40B4-BE49-F238E27FC236}">
                <a16:creationId xmlns:a16="http://schemas.microsoft.com/office/drawing/2014/main" id="{BFE9B383-1BB0-1E84-7BB9-2F945AEE314C}"/>
              </a:ext>
            </a:extLst>
          </p:cNvPr>
          <p:cNvSpPr>
            <a:spLocks noChangeAspect="1" noChangeArrowheads="1"/>
          </p:cNvSpPr>
          <p:nvPr/>
        </p:nvSpPr>
        <p:spPr bwMode="auto">
          <a:xfrm>
            <a:off x="5943600" y="2488096"/>
            <a:ext cx="1093304" cy="109330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Oval 14">
            <a:extLst>
              <a:ext uri="{FF2B5EF4-FFF2-40B4-BE49-F238E27FC236}">
                <a16:creationId xmlns:a16="http://schemas.microsoft.com/office/drawing/2014/main" id="{53D9AC34-3511-EB0D-806B-C199B425EF23}"/>
              </a:ext>
            </a:extLst>
          </p:cNvPr>
          <p:cNvSpPr/>
          <p:nvPr/>
        </p:nvSpPr>
        <p:spPr>
          <a:xfrm>
            <a:off x="8736495" y="228602"/>
            <a:ext cx="834889" cy="83488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1558F9E2-CE3C-AEEA-0D8D-669F0CA7A421}"/>
              </a:ext>
            </a:extLst>
          </p:cNvPr>
          <p:cNvSpPr/>
          <p:nvPr/>
        </p:nvSpPr>
        <p:spPr>
          <a:xfrm>
            <a:off x="9790043" y="238541"/>
            <a:ext cx="934280" cy="824947"/>
          </a:xfrm>
          <a:prstGeom prst="ellips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blipFill dpi="0" rotWithShape="1">
                <a:blip r:embed="rId4">
                  <a:extLst>
                    <a:ext uri="{28A0092B-C50C-407E-A947-70E740481C1C}">
                      <a14:useLocalDpi xmlns:a14="http://schemas.microsoft.com/office/drawing/2010/main" val="0"/>
                    </a:ext>
                  </a:extLst>
                </a:blip>
                <a:srcRect/>
                <a:stretch>
                  <a:fillRect/>
                </a:stretch>
              </a:blipFill>
            </a:endParaRPr>
          </a:p>
        </p:txBody>
      </p:sp>
      <p:sp>
        <p:nvSpPr>
          <p:cNvPr id="17" name="Oval 16">
            <a:extLst>
              <a:ext uri="{FF2B5EF4-FFF2-40B4-BE49-F238E27FC236}">
                <a16:creationId xmlns:a16="http://schemas.microsoft.com/office/drawing/2014/main" id="{53A7AA4E-1052-55C8-8E2B-2D4B9BA1BC68}"/>
              </a:ext>
            </a:extLst>
          </p:cNvPr>
          <p:cNvSpPr/>
          <p:nvPr/>
        </p:nvSpPr>
        <p:spPr>
          <a:xfrm>
            <a:off x="10942982" y="228602"/>
            <a:ext cx="934281" cy="824947"/>
          </a:xfrm>
          <a:prstGeom prst="ellips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67F229A-48C3-4BE7-96EC-3C05DC7FB720}"/>
              </a:ext>
            </a:extLst>
          </p:cNvPr>
          <p:cNvSpPr>
            <a:spLocks noGrp="1"/>
          </p:cNvSpPr>
          <p:nvPr>
            <p:ph type="title"/>
          </p:nvPr>
        </p:nvSpPr>
        <p:spPr>
          <a:xfrm>
            <a:off x="1778867" y="2709596"/>
            <a:ext cx="3731849" cy="1653682"/>
          </a:xfrm>
        </p:spPr>
        <p:txBody>
          <a:bodyPr>
            <a:normAutofit/>
          </a:bodyPr>
          <a:lstStyle/>
          <a:p>
            <a:r>
              <a:rPr lang="en-US" sz="3200" dirty="0" err="1">
                <a:solidFill>
                  <a:srgbClr val="FF0000"/>
                </a:solidFill>
                <a:latin typeface="Arial Rounded MT Bold" panose="020F0704030504030204" pitchFamily="34" charset="0"/>
              </a:rPr>
              <a:t>ProjPect</a:t>
            </a:r>
            <a:r>
              <a:rPr lang="en-US" sz="3200" dirty="0">
                <a:solidFill>
                  <a:srgbClr val="FF0000"/>
                </a:solidFill>
                <a:latin typeface="Arial Rounded MT Bold" panose="020F0704030504030204" pitchFamily="34" charset="0"/>
              </a:rPr>
              <a:t> Overview</a:t>
            </a:r>
          </a:p>
        </p:txBody>
      </p:sp>
      <p:sp>
        <p:nvSpPr>
          <p:cNvPr id="14" name="Slide Number Placeholder 13">
            <a:extLst>
              <a:ext uri="{FF2B5EF4-FFF2-40B4-BE49-F238E27FC236}">
                <a16:creationId xmlns:a16="http://schemas.microsoft.com/office/drawing/2014/main" id="{C1EA167B-7079-4284-997F-7309C510B763}"/>
              </a:ext>
            </a:extLst>
          </p:cNvPr>
          <p:cNvSpPr>
            <a:spLocks noGrp="1"/>
          </p:cNvSpPr>
          <p:nvPr>
            <p:ph type="sldNum" sz="quarter" idx="12"/>
          </p:nvPr>
        </p:nvSpPr>
        <p:spPr/>
        <p:txBody>
          <a:bodyPr/>
          <a:lstStyle/>
          <a:p>
            <a:fld id="{B9713C8C-8E70-45D5-AE59-23E60168254E}" type="slidenum">
              <a:rPr lang="en-US" smtClean="0"/>
              <a:pPr/>
              <a:t>2</a:t>
            </a:fld>
            <a:endParaRPr lang="en-US" dirty="0"/>
          </a:p>
        </p:txBody>
      </p:sp>
      <p:sp>
        <p:nvSpPr>
          <p:cNvPr id="11" name="Content Placeholder 10">
            <a:extLst>
              <a:ext uri="{FF2B5EF4-FFF2-40B4-BE49-F238E27FC236}">
                <a16:creationId xmlns:a16="http://schemas.microsoft.com/office/drawing/2014/main" id="{7041F48D-F184-4F9F-B5AC-F127F0898F39}"/>
              </a:ext>
            </a:extLst>
          </p:cNvPr>
          <p:cNvSpPr>
            <a:spLocks noGrp="1"/>
          </p:cNvSpPr>
          <p:nvPr>
            <p:ph sz="quarter" idx="13"/>
          </p:nvPr>
        </p:nvSpPr>
        <p:spPr>
          <a:xfrm>
            <a:off x="6470374" y="712788"/>
            <a:ext cx="5357191" cy="5432425"/>
          </a:xfrm>
        </p:spPr>
        <p:txBody>
          <a:bodyPr>
            <a:normAutofit/>
          </a:bodyPr>
          <a:lstStyle/>
          <a:p>
            <a:r>
              <a:rPr lang="en-US" sz="3200" dirty="0">
                <a:solidFill>
                  <a:srgbClr val="00B050"/>
                </a:solidFill>
              </a:rPr>
              <a:t>T</a:t>
            </a:r>
            <a:r>
              <a:rPr lang="en-US" sz="2400" dirty="0"/>
              <a:t>his capstone project explores product patterns across electronics categories using Python. It starts with web scraping and data cleaning, followed by clustering based on price and review volume. The final dataset reveals consumer trends and market segmentation, blending technical rigor with business insigh</a:t>
            </a:r>
            <a:r>
              <a:rPr lang="en-US" sz="2400" dirty="0">
                <a:solidFill>
                  <a:srgbClr val="00B050"/>
                </a:solidFill>
              </a:rPr>
              <a:t>t</a:t>
            </a:r>
            <a:r>
              <a:rPr lang="en-US" sz="2400" dirty="0"/>
              <a:t>.</a:t>
            </a:r>
          </a:p>
        </p:txBody>
      </p:sp>
    </p:spTree>
    <p:extLst>
      <p:ext uri="{BB962C8B-B14F-4D97-AF65-F5344CB8AC3E}">
        <p14:creationId xmlns:p14="http://schemas.microsoft.com/office/powerpoint/2010/main" val="284915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949D770F-0604-41BE-87F0-65B08CC353C6}"/>
              </a:ext>
            </a:extLst>
          </p:cNvPr>
          <p:cNvPicPr>
            <a:picLocks noGrp="1" noChangeAspect="1"/>
          </p:cNvPicPr>
          <p:nvPr>
            <p:ph type="pic" sz="quarter" idx="15"/>
          </p:nvPr>
        </p:nvPicPr>
        <p:blipFill>
          <a:blip r:embed="rId2">
            <a:extLst>
              <a:ext uri="{837473B0-CC2E-450A-ABE3-18F120FF3D39}">
                <a1611:picAttrSrcUrl xmlns:a1611="http://schemas.microsoft.com/office/drawing/2016/11/main" r:id="rId3"/>
              </a:ext>
            </a:extLst>
          </a:blip>
          <a:srcRect t="15391" b="15391"/>
          <a:stretch/>
        </p:blipFill>
        <p:spPr>
          <a:xfrm>
            <a:off x="5943600" y="3802958"/>
            <a:ext cx="6092686" cy="2546449"/>
          </a:xfrm>
        </p:spPr>
      </p:pic>
      <p:sp>
        <p:nvSpPr>
          <p:cNvPr id="4" name="Title 3">
            <a:extLst>
              <a:ext uri="{FF2B5EF4-FFF2-40B4-BE49-F238E27FC236}">
                <a16:creationId xmlns:a16="http://schemas.microsoft.com/office/drawing/2014/main" id="{65A85D8F-96DF-414F-96F0-8F01B9758670}"/>
              </a:ext>
            </a:extLst>
          </p:cNvPr>
          <p:cNvSpPr>
            <a:spLocks noGrp="1"/>
          </p:cNvSpPr>
          <p:nvPr>
            <p:ph type="title"/>
          </p:nvPr>
        </p:nvSpPr>
        <p:spPr/>
        <p:txBody>
          <a:bodyPr/>
          <a:lstStyle/>
          <a:p>
            <a:r>
              <a:rPr lang="en-US" dirty="0"/>
              <a:t>Agenda</a:t>
            </a:r>
          </a:p>
        </p:txBody>
      </p:sp>
      <p:sp>
        <p:nvSpPr>
          <p:cNvPr id="5" name="Content Placeholder 4">
            <a:extLst>
              <a:ext uri="{FF2B5EF4-FFF2-40B4-BE49-F238E27FC236}">
                <a16:creationId xmlns:a16="http://schemas.microsoft.com/office/drawing/2014/main" id="{07F79409-2936-4FDC-BF6F-45FC9FDA836A}"/>
              </a:ext>
            </a:extLst>
          </p:cNvPr>
          <p:cNvSpPr>
            <a:spLocks noGrp="1"/>
          </p:cNvSpPr>
          <p:nvPr>
            <p:ph idx="1"/>
          </p:nvPr>
        </p:nvSpPr>
        <p:spPr>
          <a:xfrm>
            <a:off x="838199" y="3060628"/>
            <a:ext cx="4355969" cy="3509137"/>
          </a:xfrm>
        </p:spPr>
        <p:txBody>
          <a:bodyPr>
            <a:normAutofit fontScale="92500" lnSpcReduction="20000"/>
          </a:bodyPr>
          <a:lstStyle/>
          <a:p>
            <a:pPr marL="457200" indent="-457200">
              <a:buFont typeface="+mj-lt"/>
              <a:buAutoNum type="arabicParenR"/>
            </a:pPr>
            <a:r>
              <a:rPr lang="en-IN" dirty="0">
                <a:solidFill>
                  <a:schemeClr val="tx1">
                    <a:lumMod val="95000"/>
                    <a:lumOff val="5000"/>
                  </a:schemeClr>
                </a:solidFill>
              </a:rPr>
              <a:t>Web Scraping </a:t>
            </a:r>
          </a:p>
          <a:p>
            <a:pPr marL="457200" indent="-457200">
              <a:buFont typeface="+mj-lt"/>
              <a:buAutoNum type="arabicParenR"/>
            </a:pPr>
            <a:r>
              <a:rPr lang="en-IN" dirty="0">
                <a:solidFill>
                  <a:schemeClr val="tx1">
                    <a:lumMod val="95000"/>
                    <a:lumOff val="5000"/>
                  </a:schemeClr>
                </a:solidFill>
              </a:rPr>
              <a:t>Data Cleaning </a:t>
            </a:r>
          </a:p>
          <a:p>
            <a:pPr marL="457200" indent="-457200">
              <a:buFont typeface="+mj-lt"/>
              <a:buAutoNum type="arabicParenR"/>
            </a:pPr>
            <a:r>
              <a:rPr lang="en-US" dirty="0"/>
              <a:t>Exploratory Data Analysis (EDA)</a:t>
            </a:r>
            <a:endParaRPr lang="en-IN" dirty="0">
              <a:solidFill>
                <a:schemeClr val="tx1">
                  <a:lumMod val="95000"/>
                  <a:lumOff val="5000"/>
                </a:schemeClr>
              </a:solidFill>
            </a:endParaRPr>
          </a:p>
          <a:p>
            <a:pPr marL="457200" indent="-457200">
              <a:buFont typeface="+mj-lt"/>
              <a:buAutoNum type="arabicParenR"/>
            </a:pPr>
            <a:r>
              <a:rPr lang="en-IN" dirty="0">
                <a:solidFill>
                  <a:schemeClr val="tx1">
                    <a:lumMod val="95000"/>
                    <a:lumOff val="5000"/>
                  </a:schemeClr>
                </a:solidFill>
              </a:rPr>
              <a:t>Unsupervised Learning (Clustering) 	</a:t>
            </a:r>
          </a:p>
          <a:p>
            <a:pPr marL="457200" indent="-457200">
              <a:buFont typeface="+mj-lt"/>
              <a:buAutoNum type="arabicParenR"/>
            </a:pPr>
            <a:r>
              <a:rPr lang="en-IN" dirty="0">
                <a:solidFill>
                  <a:schemeClr val="tx1">
                    <a:lumMod val="95000"/>
                    <a:lumOff val="5000"/>
                  </a:schemeClr>
                </a:solidFill>
              </a:rPr>
              <a:t>Supervised Learning (Classification) 	</a:t>
            </a:r>
          </a:p>
          <a:p>
            <a:pPr marL="457200" indent="-457200">
              <a:buFont typeface="+mj-lt"/>
              <a:buAutoNum type="arabicParenR"/>
            </a:pPr>
            <a:r>
              <a:rPr lang="en-IN" dirty="0">
                <a:solidFill>
                  <a:schemeClr val="tx1">
                    <a:lumMod val="95000"/>
                    <a:lumOff val="5000"/>
                  </a:schemeClr>
                </a:solidFill>
              </a:rPr>
              <a:t>Hyperparameter Tuning </a:t>
            </a:r>
            <a:r>
              <a:rPr lang="en-IN" dirty="0"/>
              <a:t>	</a:t>
            </a:r>
          </a:p>
          <a:p>
            <a:r>
              <a:rPr lang="en-IN" dirty="0"/>
              <a:t>	</a:t>
            </a:r>
          </a:p>
          <a:p>
            <a:r>
              <a:rPr lang="en-IN" dirty="0"/>
              <a:t>	</a:t>
            </a:r>
          </a:p>
          <a:p>
            <a:pPr marL="457200" indent="-457200">
              <a:buFont typeface="+mj-lt"/>
              <a:buAutoNum type="arabicParenR"/>
            </a:pPr>
            <a:endParaRPr lang="en-IN" dirty="0"/>
          </a:p>
          <a:p>
            <a:endParaRPr lang="en-US" dirty="0"/>
          </a:p>
        </p:txBody>
      </p:sp>
      <p:pic>
        <p:nvPicPr>
          <p:cNvPr id="13" name="Picture Placeholder 12">
            <a:extLst>
              <a:ext uri="{FF2B5EF4-FFF2-40B4-BE49-F238E27FC236}">
                <a16:creationId xmlns:a16="http://schemas.microsoft.com/office/drawing/2014/main" id="{55CEEF7E-98C5-40BC-941B-88FA9196B7B7}"/>
              </a:ext>
            </a:extLst>
          </p:cNvPr>
          <p:cNvPicPr>
            <a:picLocks noGrp="1" noChangeAspect="1"/>
          </p:cNvPicPr>
          <p:nvPr>
            <p:ph type="pic" sz="quarter" idx="13"/>
          </p:nvPr>
        </p:nvPicPr>
        <p:blipFill>
          <a:blip r:embed="rId4">
            <a:extLst>
              <a:ext uri="{837473B0-CC2E-450A-ABE3-18F120FF3D39}">
                <a1611:picAttrSrcUrl xmlns:a1611="http://schemas.microsoft.com/office/drawing/2016/11/main" r:id="rId5"/>
              </a:ext>
            </a:extLst>
          </a:blip>
          <a:srcRect l="18438" r="18438"/>
          <a:stretch/>
        </p:blipFill>
        <p:spPr/>
      </p:pic>
      <p:pic>
        <p:nvPicPr>
          <p:cNvPr id="12" name="Picture Placeholder 11">
            <a:extLst>
              <a:ext uri="{FF2B5EF4-FFF2-40B4-BE49-F238E27FC236}">
                <a16:creationId xmlns:a16="http://schemas.microsoft.com/office/drawing/2014/main" id="{069098E8-C6DA-15D7-148F-766F56214C61}"/>
              </a:ext>
            </a:extLst>
          </p:cNvPr>
          <p:cNvPicPr>
            <a:picLocks noGrp="1" noChangeAspect="1"/>
          </p:cNvPicPr>
          <p:nvPr>
            <p:ph type="pic" sz="quarter" idx="16"/>
          </p:nvPr>
        </p:nvPicPr>
        <p:blipFill>
          <a:blip r:embed="rId6">
            <a:extLst>
              <a:ext uri="{837473B0-CC2E-450A-ABE3-18F120FF3D39}">
                <a1611:picAttrSrcUrl xmlns:a1611="http://schemas.microsoft.com/office/drawing/2016/11/main" r:id="rId7"/>
              </a:ext>
            </a:extLst>
          </a:blip>
          <a:srcRect l="15411" r="15411"/>
          <a:stretch>
            <a:fillRect/>
          </a:stretch>
        </p:blipFill>
        <p:spPr/>
      </p:pic>
    </p:spTree>
    <p:extLst>
      <p:ext uri="{BB962C8B-B14F-4D97-AF65-F5344CB8AC3E}">
        <p14:creationId xmlns:p14="http://schemas.microsoft.com/office/powerpoint/2010/main" val="191294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02820-7F02-4F5F-8933-C0B61CFA2E08}"/>
              </a:ext>
            </a:extLst>
          </p:cNvPr>
          <p:cNvSpPr>
            <a:spLocks noGrp="1"/>
          </p:cNvSpPr>
          <p:nvPr>
            <p:ph type="title"/>
          </p:nvPr>
        </p:nvSpPr>
        <p:spPr>
          <a:xfrm>
            <a:off x="3864989" y="361376"/>
            <a:ext cx="4009408" cy="1080924"/>
          </a:xfrm>
        </p:spPr>
        <p:txBody>
          <a:bodyPr>
            <a:normAutofit fontScale="90000"/>
          </a:bodyPr>
          <a:lstStyle/>
          <a:p>
            <a:r>
              <a:rPr lang="en-IN" dirty="0">
                <a:solidFill>
                  <a:schemeClr val="tx1">
                    <a:lumMod val="95000"/>
                    <a:lumOff val="5000"/>
                  </a:schemeClr>
                </a:solidFill>
              </a:rPr>
              <a:t>Web Scraping </a:t>
            </a:r>
            <a:br>
              <a:rPr lang="en-IN" dirty="0">
                <a:solidFill>
                  <a:schemeClr val="tx1">
                    <a:lumMod val="95000"/>
                    <a:lumOff val="5000"/>
                  </a:schemeClr>
                </a:solidFill>
              </a:rPr>
            </a:br>
            <a:endParaRPr lang="en-US" dirty="0"/>
          </a:p>
        </p:txBody>
      </p:sp>
      <p:sp>
        <p:nvSpPr>
          <p:cNvPr id="3" name="Rectangle: Rounded Corners 2">
            <a:extLst>
              <a:ext uri="{FF2B5EF4-FFF2-40B4-BE49-F238E27FC236}">
                <a16:creationId xmlns:a16="http://schemas.microsoft.com/office/drawing/2014/main" id="{64E88960-5656-81D5-EF22-117022D51EA1}"/>
              </a:ext>
            </a:extLst>
          </p:cNvPr>
          <p:cNvSpPr/>
          <p:nvPr/>
        </p:nvSpPr>
        <p:spPr>
          <a:xfrm>
            <a:off x="518475" y="1894788"/>
            <a:ext cx="9775596" cy="4421171"/>
          </a:xfrm>
          <a:prstGeom prst="roundRect">
            <a:avLst>
              <a:gd name="adj" fmla="val 9204"/>
            </a:avLst>
          </a:prstGeom>
          <a:effectLst>
            <a:outerShdw blurRad="50800" dist="38100" dir="5400000" algn="t" rotWithShape="0">
              <a:prstClr val="black">
                <a:alpha val="40000"/>
              </a:prstClr>
            </a:outerShdw>
          </a:effectLst>
        </p:spPr>
        <p:style>
          <a:lnRef idx="0">
            <a:schemeClr val="accent2"/>
          </a:lnRef>
          <a:fillRef idx="1003">
            <a:schemeClr val="dk1"/>
          </a:fillRef>
          <a:effectRef idx="3">
            <a:schemeClr val="accent2"/>
          </a:effectRef>
          <a:fontRef idx="minor">
            <a:schemeClr val="lt1"/>
          </a:fontRef>
        </p:style>
        <p:txBody>
          <a:bodyPr rtlCol="0" anchor="ctr"/>
          <a:lstStyle/>
          <a:p>
            <a:r>
              <a:rPr lang="en-US" b="1" u="sng" dirty="0"/>
              <a:t>Data Collection </a:t>
            </a:r>
          </a:p>
          <a:p>
            <a:endParaRPr lang="en-US" dirty="0"/>
          </a:p>
          <a:p>
            <a:r>
              <a:rPr lang="en-US" dirty="0"/>
              <a:t>Source of data :		https:/webscraper.io</a:t>
            </a:r>
            <a:endParaRPr lang="en-US" dirty="0">
              <a:solidFill>
                <a:srgbClr val="0070C0"/>
              </a:solidFill>
            </a:endParaRPr>
          </a:p>
          <a:p>
            <a:r>
              <a:rPr lang="en-US" dirty="0"/>
              <a:t>Method :			web scraping with </a:t>
            </a:r>
            <a:r>
              <a:rPr lang="en-US" dirty="0" err="1">
                <a:solidFill>
                  <a:srgbClr val="FF0000"/>
                </a:solidFill>
              </a:rPr>
              <a:t>BeautifulSoup</a:t>
            </a:r>
            <a:endParaRPr lang="en-US" dirty="0">
              <a:solidFill>
                <a:srgbClr val="FF0000"/>
              </a:solidFill>
            </a:endParaRPr>
          </a:p>
          <a:p>
            <a:r>
              <a:rPr lang="en-IN" dirty="0"/>
              <a:t>Product data, including :  	Product Name ,Price ,Category ,Ratings ,Number of Reviews </a:t>
            </a:r>
          </a:p>
          <a:p>
            <a:endParaRPr lang="en-IN" b="1" u="sng" dirty="0">
              <a:solidFill>
                <a:srgbClr val="FF0000"/>
              </a:solidFill>
            </a:endParaRPr>
          </a:p>
        </p:txBody>
      </p:sp>
    </p:spTree>
    <p:extLst>
      <p:ext uri="{BB962C8B-B14F-4D97-AF65-F5344CB8AC3E}">
        <p14:creationId xmlns:p14="http://schemas.microsoft.com/office/powerpoint/2010/main" val="409331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260B77-7D22-26E5-FF23-FD7992B7B85D}"/>
              </a:ext>
            </a:extLst>
          </p:cNvPr>
          <p:cNvPicPr>
            <a:picLocks noChangeAspect="1"/>
          </p:cNvPicPr>
          <p:nvPr/>
        </p:nvPicPr>
        <p:blipFill>
          <a:blip r:embed="rId2"/>
          <a:stretch>
            <a:fillRect/>
          </a:stretch>
        </p:blipFill>
        <p:spPr>
          <a:xfrm>
            <a:off x="1359075" y="321830"/>
            <a:ext cx="9029263" cy="65361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97105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F1299-5E16-5E21-118A-B75AF5DF71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117918-54C2-4880-FA9E-8D5E218ECB01}"/>
              </a:ext>
            </a:extLst>
          </p:cNvPr>
          <p:cNvPicPr>
            <a:picLocks noChangeAspect="1"/>
          </p:cNvPicPr>
          <p:nvPr/>
        </p:nvPicPr>
        <p:blipFill>
          <a:blip r:embed="rId2"/>
          <a:stretch>
            <a:fillRect/>
          </a:stretch>
        </p:blipFill>
        <p:spPr>
          <a:xfrm>
            <a:off x="3386816" y="208557"/>
            <a:ext cx="4852211" cy="6272369"/>
          </a:xfrm>
          <a:prstGeom prst="rect">
            <a:avLst/>
          </a:prstGeom>
        </p:spPr>
      </p:pic>
    </p:spTree>
    <p:extLst>
      <p:ext uri="{BB962C8B-B14F-4D97-AF65-F5344CB8AC3E}">
        <p14:creationId xmlns:p14="http://schemas.microsoft.com/office/powerpoint/2010/main" val="2177456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0377-110A-B6D4-424E-490690C5A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55AEF-EF26-651E-5D0D-7B14478F58EB}"/>
              </a:ext>
            </a:extLst>
          </p:cNvPr>
          <p:cNvSpPr>
            <a:spLocks noGrp="1"/>
          </p:cNvSpPr>
          <p:nvPr>
            <p:ph type="title"/>
          </p:nvPr>
        </p:nvSpPr>
        <p:spPr>
          <a:xfrm>
            <a:off x="3864989" y="361376"/>
            <a:ext cx="4009408" cy="1080924"/>
          </a:xfrm>
        </p:spPr>
        <p:txBody>
          <a:bodyPr>
            <a:normAutofit/>
          </a:bodyPr>
          <a:lstStyle/>
          <a:p>
            <a:r>
              <a:rPr lang="en-IN" dirty="0">
                <a:solidFill>
                  <a:schemeClr val="tx1">
                    <a:lumMod val="95000"/>
                    <a:lumOff val="5000"/>
                  </a:schemeClr>
                </a:solidFill>
              </a:rPr>
              <a:t>Data Cleaning </a:t>
            </a:r>
          </a:p>
        </p:txBody>
      </p:sp>
      <p:sp>
        <p:nvSpPr>
          <p:cNvPr id="3" name="Rectangle: Rounded Corners 2">
            <a:extLst>
              <a:ext uri="{FF2B5EF4-FFF2-40B4-BE49-F238E27FC236}">
                <a16:creationId xmlns:a16="http://schemas.microsoft.com/office/drawing/2014/main" id="{FABD0545-46EB-B399-4A6E-204E1794087D}"/>
              </a:ext>
            </a:extLst>
          </p:cNvPr>
          <p:cNvSpPr/>
          <p:nvPr/>
        </p:nvSpPr>
        <p:spPr>
          <a:xfrm>
            <a:off x="518475" y="1894788"/>
            <a:ext cx="9775596" cy="4421171"/>
          </a:xfrm>
          <a:prstGeom prst="roundRect">
            <a:avLst>
              <a:gd name="adj" fmla="val 9204"/>
            </a:avLst>
          </a:prstGeom>
          <a:effectLst>
            <a:outerShdw blurRad="50800" dist="38100" dir="5400000" algn="t" rotWithShape="0">
              <a:prstClr val="black">
                <a:alpha val="40000"/>
              </a:prstClr>
            </a:outerShdw>
          </a:effectLst>
        </p:spPr>
        <p:style>
          <a:lnRef idx="0">
            <a:schemeClr val="accent2"/>
          </a:lnRef>
          <a:fillRef idx="1003">
            <a:schemeClr val="dk1"/>
          </a:fillRef>
          <a:effectRef idx="3">
            <a:schemeClr val="accent2"/>
          </a:effectRef>
          <a:fontRef idx="minor">
            <a:schemeClr val="lt1"/>
          </a:fontRef>
        </p:style>
        <p:txBody>
          <a:bodyPr rtlCol="0" anchor="ctr"/>
          <a:lstStyle/>
          <a:p>
            <a:endParaRPr lang="en-IN" dirty="0"/>
          </a:p>
          <a:p>
            <a:pPr marL="285750" indent="-285750">
              <a:buFont typeface="Arial" panose="020B0604020202020204" pitchFamily="34" charset="0"/>
              <a:buChar char="•"/>
            </a:pPr>
            <a:r>
              <a:rPr lang="en-US" dirty="0"/>
              <a:t> Load the data into a pandas </a:t>
            </a:r>
            <a:r>
              <a:rPr lang="en-US" dirty="0" err="1"/>
              <a:t>DataFrame</a:t>
            </a:r>
            <a:r>
              <a:rPr lang="en-US" dirty="0"/>
              <a:t> </a:t>
            </a:r>
          </a:p>
          <a:p>
            <a:pPr marL="285750" indent="-285750">
              <a:buFont typeface="Arial" panose="020B0604020202020204" pitchFamily="34" charset="0"/>
              <a:buChar char="•"/>
            </a:pPr>
            <a:r>
              <a:rPr lang="en-US" dirty="0"/>
              <a:t>Steps taken to clean the data (missing values, duplicates, format standardization)</a:t>
            </a:r>
          </a:p>
          <a:p>
            <a:pPr marL="285750" indent="-285750">
              <a:buFont typeface="Arial" panose="020B0604020202020204" pitchFamily="34" charset="0"/>
              <a:buChar char="•"/>
            </a:pPr>
            <a:endParaRPr lang="en-IN" b="1" u="sng" dirty="0">
              <a:solidFill>
                <a:srgbClr val="FF0000"/>
              </a:solidFill>
            </a:endParaRPr>
          </a:p>
        </p:txBody>
      </p:sp>
    </p:spTree>
    <p:extLst>
      <p:ext uri="{BB962C8B-B14F-4D97-AF65-F5344CB8AC3E}">
        <p14:creationId xmlns:p14="http://schemas.microsoft.com/office/powerpoint/2010/main" val="491140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5E35-E0EB-F64C-3222-9201ABB65EC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72D9529-A589-3FE1-68EB-1BB78FC5B50D}"/>
              </a:ext>
            </a:extLst>
          </p:cNvPr>
          <p:cNvPicPr>
            <a:picLocks noChangeAspect="1"/>
          </p:cNvPicPr>
          <p:nvPr/>
        </p:nvPicPr>
        <p:blipFill>
          <a:blip r:embed="rId2"/>
          <a:stretch>
            <a:fillRect/>
          </a:stretch>
        </p:blipFill>
        <p:spPr>
          <a:xfrm>
            <a:off x="1639917" y="0"/>
            <a:ext cx="8912165"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62770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1FED7-75A3-7078-F9C3-0A118B2F4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6E9FE-484F-157C-E69F-3147624170AB}"/>
              </a:ext>
            </a:extLst>
          </p:cNvPr>
          <p:cNvSpPr>
            <a:spLocks noGrp="1"/>
          </p:cNvSpPr>
          <p:nvPr>
            <p:ph type="title"/>
          </p:nvPr>
        </p:nvSpPr>
        <p:spPr>
          <a:xfrm>
            <a:off x="2064470" y="399083"/>
            <a:ext cx="6683605" cy="1080924"/>
          </a:xfrm>
        </p:spPr>
        <p:txBody>
          <a:bodyPr>
            <a:normAutofit fontScale="90000"/>
          </a:bodyPr>
          <a:lstStyle/>
          <a:p>
            <a:r>
              <a:rPr lang="en-US" dirty="0">
                <a:solidFill>
                  <a:schemeClr val="tx1">
                    <a:lumMod val="95000"/>
                    <a:lumOff val="5000"/>
                  </a:schemeClr>
                </a:solidFill>
              </a:rPr>
              <a:t>Exploratory Data Analysis (EDA)</a:t>
            </a:r>
            <a:endParaRPr lang="en-IN" dirty="0">
              <a:solidFill>
                <a:schemeClr val="tx1">
                  <a:lumMod val="95000"/>
                  <a:lumOff val="5000"/>
                </a:schemeClr>
              </a:solidFill>
            </a:endParaRPr>
          </a:p>
        </p:txBody>
      </p:sp>
      <p:sp>
        <p:nvSpPr>
          <p:cNvPr id="3" name="Rectangle: Rounded Corners 2">
            <a:extLst>
              <a:ext uri="{FF2B5EF4-FFF2-40B4-BE49-F238E27FC236}">
                <a16:creationId xmlns:a16="http://schemas.microsoft.com/office/drawing/2014/main" id="{33A2CF9E-7A24-C77A-36BD-85882D9DDBC5}"/>
              </a:ext>
            </a:extLst>
          </p:cNvPr>
          <p:cNvSpPr/>
          <p:nvPr/>
        </p:nvSpPr>
        <p:spPr>
          <a:xfrm>
            <a:off x="518475" y="1894788"/>
            <a:ext cx="9775596" cy="4421171"/>
          </a:xfrm>
          <a:prstGeom prst="roundRect">
            <a:avLst>
              <a:gd name="adj" fmla="val 9204"/>
            </a:avLst>
          </a:prstGeom>
          <a:effectLst>
            <a:outerShdw blurRad="50800" dist="38100" dir="5400000" algn="t" rotWithShape="0">
              <a:prstClr val="black">
                <a:alpha val="40000"/>
              </a:prstClr>
            </a:outerShdw>
          </a:effectLst>
        </p:spPr>
        <p:style>
          <a:lnRef idx="0">
            <a:schemeClr val="accent2"/>
          </a:lnRef>
          <a:fillRef idx="1003">
            <a:schemeClr val="dk1"/>
          </a:fillRef>
          <a:effectRef idx="3">
            <a:schemeClr val="accent2"/>
          </a:effectRef>
          <a:fontRef idx="minor">
            <a:schemeClr val="lt1"/>
          </a:fontRef>
        </p:style>
        <p:txBody>
          <a:bodyPr rtlCol="0" anchor="ctr"/>
          <a:lstStyle/>
          <a:p>
            <a:pPr marL="285750" indent="-285750">
              <a:buFont typeface="Arial" panose="020B0604020202020204" pitchFamily="34" charset="0"/>
              <a:buChar char="•"/>
            </a:pPr>
            <a:r>
              <a:rPr lang="en-US" dirty="0" err="1">
                <a:solidFill>
                  <a:schemeClr val="bg1"/>
                </a:solidFill>
              </a:rPr>
              <a:t>df</a:t>
            </a:r>
            <a:r>
              <a:rPr lang="en-US" dirty="0">
                <a:solidFill>
                  <a:schemeClr val="bg1"/>
                </a:solidFill>
              </a:rPr>
              <a:t>['Category'].</a:t>
            </a:r>
            <a:r>
              <a:rPr lang="en-US" dirty="0" err="1">
                <a:solidFill>
                  <a:schemeClr val="bg1"/>
                </a:solidFill>
              </a:rPr>
              <a:t>value_counts</a:t>
            </a:r>
            <a:r>
              <a:rPr lang="en-US" dirty="0">
                <a:solidFill>
                  <a:schemeClr val="bg1"/>
                </a:solidFill>
              </a:rPr>
              <a:t>().plot(kind='bar', title='Product Counts by Category’) </a:t>
            </a:r>
          </a:p>
          <a:p>
            <a:r>
              <a:rPr lang="en-US" dirty="0">
                <a:solidFill>
                  <a:schemeClr val="bg1"/>
                </a:solidFill>
              </a:rPr>
              <a:t> 	</a:t>
            </a:r>
            <a:r>
              <a:rPr lang="en-US" dirty="0">
                <a:solidFill>
                  <a:srgbClr val="FF0000"/>
                </a:solidFill>
              </a:rPr>
              <a:t>– </a:t>
            </a:r>
            <a:r>
              <a:rPr lang="en-US" dirty="0">
                <a:solidFill>
                  <a:srgbClr val="00B050"/>
                </a:solidFill>
              </a:rPr>
              <a:t>Category wise Distribution</a:t>
            </a:r>
          </a:p>
          <a:p>
            <a:pPr marL="285750" indent="-285750">
              <a:buFont typeface="Arial" panose="020B0604020202020204" pitchFamily="34" charset="0"/>
              <a:buChar char="•"/>
            </a:pPr>
            <a:r>
              <a:rPr lang="en-IN" dirty="0">
                <a:solidFill>
                  <a:schemeClr val="bg1"/>
                </a:solidFill>
              </a:rPr>
              <a:t>import seaborn as </a:t>
            </a:r>
            <a:r>
              <a:rPr lang="en-IN" dirty="0" err="1">
                <a:solidFill>
                  <a:schemeClr val="bg1"/>
                </a:solidFill>
              </a:rPr>
              <a:t>snsimport</a:t>
            </a:r>
            <a:r>
              <a:rPr lang="en-IN" dirty="0">
                <a:solidFill>
                  <a:schemeClr val="bg1"/>
                </a:solidFill>
              </a:rPr>
              <a:t> </a:t>
            </a:r>
            <a:r>
              <a:rPr lang="en-IN" dirty="0" err="1">
                <a:solidFill>
                  <a:schemeClr val="bg1"/>
                </a:solidFill>
              </a:rPr>
              <a:t>matplotlib.pyplot</a:t>
            </a:r>
            <a:r>
              <a:rPr lang="en-IN" dirty="0">
                <a:solidFill>
                  <a:schemeClr val="bg1"/>
                </a:solidFill>
              </a:rPr>
              <a:t> as </a:t>
            </a:r>
            <a:r>
              <a:rPr lang="en-IN" dirty="0" err="1">
                <a:solidFill>
                  <a:schemeClr val="bg1"/>
                </a:solidFill>
              </a:rPr>
              <a:t>plt</a:t>
            </a:r>
            <a:r>
              <a:rPr lang="en-IN" dirty="0">
                <a:solidFill>
                  <a:schemeClr val="bg1"/>
                </a:solidFill>
              </a:rPr>
              <a:t> #Price </a:t>
            </a:r>
            <a:r>
              <a:rPr lang="en-IN" dirty="0" err="1">
                <a:solidFill>
                  <a:schemeClr val="bg1"/>
                </a:solidFill>
              </a:rPr>
              <a:t>Distributionsns.histplot</a:t>
            </a:r>
            <a:r>
              <a:rPr lang="en-IN" dirty="0">
                <a:solidFill>
                  <a:schemeClr val="bg1"/>
                </a:solidFill>
              </a:rPr>
              <a:t>(</a:t>
            </a:r>
            <a:r>
              <a:rPr lang="en-IN" dirty="0" err="1">
                <a:solidFill>
                  <a:schemeClr val="bg1"/>
                </a:solidFill>
              </a:rPr>
              <a:t>df</a:t>
            </a:r>
            <a:r>
              <a:rPr lang="en-IN" dirty="0">
                <a:solidFill>
                  <a:schemeClr val="bg1"/>
                </a:solidFill>
              </a:rPr>
              <a:t>['Price'], </a:t>
            </a:r>
            <a:r>
              <a:rPr lang="en-IN" dirty="0" err="1">
                <a:solidFill>
                  <a:schemeClr val="bg1"/>
                </a:solidFill>
              </a:rPr>
              <a:t>kde</a:t>
            </a:r>
            <a:r>
              <a:rPr lang="en-IN" dirty="0">
                <a:solidFill>
                  <a:schemeClr val="bg1"/>
                </a:solidFill>
              </a:rPr>
              <a:t>=True)</a:t>
            </a:r>
            <a:r>
              <a:rPr lang="en-IN" dirty="0" err="1">
                <a:solidFill>
                  <a:schemeClr val="bg1"/>
                </a:solidFill>
              </a:rPr>
              <a:t>plt.title</a:t>
            </a:r>
            <a:r>
              <a:rPr lang="en-IN" dirty="0">
                <a:solidFill>
                  <a:schemeClr val="bg1"/>
                </a:solidFill>
              </a:rPr>
              <a:t>("Price Distribution")</a:t>
            </a:r>
            <a:r>
              <a:rPr lang="en-IN" dirty="0" err="1">
                <a:solidFill>
                  <a:schemeClr val="bg1"/>
                </a:solidFill>
              </a:rPr>
              <a:t>plt.show</a:t>
            </a:r>
            <a:r>
              <a:rPr lang="en-IN" dirty="0">
                <a:solidFill>
                  <a:schemeClr val="bg1"/>
                </a:solidFill>
              </a:rPr>
              <a:t>()</a:t>
            </a:r>
          </a:p>
          <a:p>
            <a:r>
              <a:rPr lang="en-IN" dirty="0">
                <a:solidFill>
                  <a:schemeClr val="bg1"/>
                </a:solidFill>
              </a:rPr>
              <a:t>	</a:t>
            </a:r>
            <a:r>
              <a:rPr lang="en-IN" dirty="0">
                <a:solidFill>
                  <a:srgbClr val="FF0000"/>
                </a:solidFill>
              </a:rPr>
              <a:t>-</a:t>
            </a:r>
            <a:r>
              <a:rPr lang="en-IN" dirty="0">
                <a:solidFill>
                  <a:schemeClr val="bg1"/>
                </a:solidFill>
              </a:rPr>
              <a:t> </a:t>
            </a:r>
            <a:r>
              <a:rPr lang="en-IN" dirty="0">
                <a:solidFill>
                  <a:srgbClr val="00B050"/>
                </a:solidFill>
              </a:rPr>
              <a:t>Price Distribution</a:t>
            </a:r>
          </a:p>
          <a:p>
            <a:pPr marL="285750" indent="-285750">
              <a:buFont typeface="Arial" panose="020B0604020202020204" pitchFamily="34" charset="0"/>
              <a:buChar char="•"/>
            </a:pPr>
            <a:r>
              <a:rPr lang="en-US" dirty="0" err="1">
                <a:solidFill>
                  <a:schemeClr val="bg1"/>
                </a:solidFill>
              </a:rPr>
              <a:t>sns.boxplot</a:t>
            </a:r>
            <a:r>
              <a:rPr lang="en-US" dirty="0">
                <a:solidFill>
                  <a:schemeClr val="bg1"/>
                </a:solidFill>
              </a:rPr>
              <a:t>(data=</a:t>
            </a:r>
            <a:r>
              <a:rPr lang="en-US" dirty="0" err="1">
                <a:solidFill>
                  <a:schemeClr val="bg1"/>
                </a:solidFill>
              </a:rPr>
              <a:t>df</a:t>
            </a:r>
            <a:r>
              <a:rPr lang="en-US" dirty="0">
                <a:solidFill>
                  <a:schemeClr val="bg1"/>
                </a:solidFill>
              </a:rPr>
              <a:t>, x='Category', y='Price') </a:t>
            </a:r>
            <a:r>
              <a:rPr lang="en-US" dirty="0" err="1">
                <a:solidFill>
                  <a:schemeClr val="bg1"/>
                </a:solidFill>
              </a:rPr>
              <a:t>plt.title</a:t>
            </a:r>
            <a:r>
              <a:rPr lang="en-US" dirty="0">
                <a:solidFill>
                  <a:schemeClr val="bg1"/>
                </a:solidFill>
              </a:rPr>
              <a:t>("Price Spread by Category")</a:t>
            </a:r>
          </a:p>
          <a:p>
            <a:r>
              <a:rPr lang="en-US" dirty="0">
                <a:solidFill>
                  <a:schemeClr val="bg1"/>
                </a:solidFill>
              </a:rPr>
              <a:t>	</a:t>
            </a:r>
            <a:r>
              <a:rPr lang="en-US" dirty="0">
                <a:solidFill>
                  <a:srgbClr val="FF0000"/>
                </a:solidFill>
              </a:rPr>
              <a:t>- </a:t>
            </a:r>
            <a:r>
              <a:rPr lang="en-US" dirty="0">
                <a:solidFill>
                  <a:srgbClr val="00B050"/>
                </a:solidFill>
              </a:rPr>
              <a:t>Price Comparisons by Category </a:t>
            </a:r>
            <a:endParaRPr lang="en-IN" dirty="0">
              <a:solidFill>
                <a:srgbClr val="00B050"/>
              </a:solidFill>
            </a:endParaRPr>
          </a:p>
        </p:txBody>
      </p:sp>
    </p:spTree>
    <p:extLst>
      <p:ext uri="{BB962C8B-B14F-4D97-AF65-F5344CB8AC3E}">
        <p14:creationId xmlns:p14="http://schemas.microsoft.com/office/powerpoint/2010/main" val="2833250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0DFA-7222-93DB-9A90-9E3F37B52D2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47F6DC3-C4FA-67FF-35DD-9F978F74CCBD}"/>
              </a:ext>
            </a:extLst>
          </p:cNvPr>
          <p:cNvPicPr>
            <a:picLocks noChangeAspect="1"/>
          </p:cNvPicPr>
          <p:nvPr/>
        </p:nvPicPr>
        <p:blipFill>
          <a:blip r:embed="rId2"/>
          <a:stretch>
            <a:fillRect/>
          </a:stretch>
        </p:blipFill>
        <p:spPr>
          <a:xfrm>
            <a:off x="259986" y="158410"/>
            <a:ext cx="4161121" cy="3022539"/>
          </a:xfrm>
          <a:prstGeom prst="rect">
            <a:avLst/>
          </a:prstGeom>
        </p:spPr>
      </p:pic>
      <p:pic>
        <p:nvPicPr>
          <p:cNvPr id="8" name="Picture 7">
            <a:extLst>
              <a:ext uri="{FF2B5EF4-FFF2-40B4-BE49-F238E27FC236}">
                <a16:creationId xmlns:a16="http://schemas.microsoft.com/office/drawing/2014/main" id="{3A3E4AF2-CBC3-43EC-3691-5D7E0931E404}"/>
              </a:ext>
            </a:extLst>
          </p:cNvPr>
          <p:cNvPicPr>
            <a:picLocks noChangeAspect="1"/>
          </p:cNvPicPr>
          <p:nvPr/>
        </p:nvPicPr>
        <p:blipFill>
          <a:blip r:embed="rId3"/>
          <a:stretch>
            <a:fillRect/>
          </a:stretch>
        </p:blipFill>
        <p:spPr>
          <a:xfrm>
            <a:off x="7088957" y="233444"/>
            <a:ext cx="4737614" cy="2947506"/>
          </a:xfrm>
          <a:prstGeom prst="rect">
            <a:avLst/>
          </a:prstGeom>
        </p:spPr>
      </p:pic>
      <p:pic>
        <p:nvPicPr>
          <p:cNvPr id="10" name="Picture 9">
            <a:extLst>
              <a:ext uri="{FF2B5EF4-FFF2-40B4-BE49-F238E27FC236}">
                <a16:creationId xmlns:a16="http://schemas.microsoft.com/office/drawing/2014/main" id="{BF5C915F-C90C-1F27-C51E-9CAC40A5AF47}"/>
              </a:ext>
            </a:extLst>
          </p:cNvPr>
          <p:cNvPicPr>
            <a:picLocks noChangeAspect="1"/>
          </p:cNvPicPr>
          <p:nvPr/>
        </p:nvPicPr>
        <p:blipFill>
          <a:blip r:embed="rId4"/>
          <a:stretch>
            <a:fillRect/>
          </a:stretch>
        </p:blipFill>
        <p:spPr>
          <a:xfrm>
            <a:off x="2790334" y="3313722"/>
            <a:ext cx="4440025" cy="3390906"/>
          </a:xfrm>
          <a:prstGeom prst="rect">
            <a:avLst/>
          </a:prstGeom>
        </p:spPr>
      </p:pic>
    </p:spTree>
    <p:extLst>
      <p:ext uri="{BB962C8B-B14F-4D97-AF65-F5344CB8AC3E}">
        <p14:creationId xmlns:p14="http://schemas.microsoft.com/office/powerpoint/2010/main" val="1259237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3CDE4-A0D2-9A8D-840A-59D4E5FF2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E4F94-4938-4DA3-A596-339C2494F071}"/>
              </a:ext>
            </a:extLst>
          </p:cNvPr>
          <p:cNvSpPr>
            <a:spLocks noGrp="1"/>
          </p:cNvSpPr>
          <p:nvPr>
            <p:ph type="title"/>
          </p:nvPr>
        </p:nvSpPr>
        <p:spPr/>
        <p:txBody>
          <a:bodyPr/>
          <a:lstStyle/>
          <a:p>
            <a:r>
              <a:rPr lang="en-US" dirty="0"/>
              <a:t>Unsupervised Learning (Clustering) </a:t>
            </a:r>
          </a:p>
        </p:txBody>
      </p:sp>
      <p:pic>
        <p:nvPicPr>
          <p:cNvPr id="4" name="Picture 3">
            <a:extLst>
              <a:ext uri="{FF2B5EF4-FFF2-40B4-BE49-F238E27FC236}">
                <a16:creationId xmlns:a16="http://schemas.microsoft.com/office/drawing/2014/main" id="{F90A6209-609C-B359-40D7-ECBD546C3414}"/>
              </a:ext>
            </a:extLst>
          </p:cNvPr>
          <p:cNvPicPr>
            <a:picLocks noChangeAspect="1"/>
          </p:cNvPicPr>
          <p:nvPr/>
        </p:nvPicPr>
        <p:blipFill>
          <a:blip r:embed="rId2"/>
          <a:stretch>
            <a:fillRect/>
          </a:stretch>
        </p:blipFill>
        <p:spPr>
          <a:xfrm>
            <a:off x="2256995" y="2240725"/>
            <a:ext cx="7424334" cy="4518294"/>
          </a:xfrm>
          <a:prstGeom prst="rect">
            <a:avLst/>
          </a:prstGeom>
        </p:spPr>
      </p:pic>
    </p:spTree>
    <p:extLst>
      <p:ext uri="{BB962C8B-B14F-4D97-AF65-F5344CB8AC3E}">
        <p14:creationId xmlns:p14="http://schemas.microsoft.com/office/powerpoint/2010/main" val="563327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5CB33-17E2-4F90-8489-A5546640104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42A4C51-DB3E-D44A-61B3-05C5377333C1}"/>
              </a:ext>
            </a:extLst>
          </p:cNvPr>
          <p:cNvPicPr>
            <a:picLocks noChangeAspect="1"/>
          </p:cNvPicPr>
          <p:nvPr/>
        </p:nvPicPr>
        <p:blipFill>
          <a:blip r:embed="rId2"/>
          <a:stretch>
            <a:fillRect/>
          </a:stretch>
        </p:blipFill>
        <p:spPr>
          <a:xfrm>
            <a:off x="2186653" y="290931"/>
            <a:ext cx="7818694" cy="6567069"/>
          </a:xfrm>
          <a:prstGeom prst="rect">
            <a:avLst/>
          </a:prstGeom>
        </p:spPr>
      </p:pic>
    </p:spTree>
    <p:extLst>
      <p:ext uri="{BB962C8B-B14F-4D97-AF65-F5344CB8AC3E}">
        <p14:creationId xmlns:p14="http://schemas.microsoft.com/office/powerpoint/2010/main" val="2105051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E861-9119-6361-123D-C01CC6EFE41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9B00FCA-687C-6DB2-8B6A-EBE82117FF18}"/>
              </a:ext>
            </a:extLst>
          </p:cNvPr>
          <p:cNvPicPr>
            <a:picLocks noChangeAspect="1"/>
          </p:cNvPicPr>
          <p:nvPr/>
        </p:nvPicPr>
        <p:blipFill>
          <a:blip r:embed="rId2"/>
          <a:stretch>
            <a:fillRect/>
          </a:stretch>
        </p:blipFill>
        <p:spPr>
          <a:xfrm>
            <a:off x="2182905" y="0"/>
            <a:ext cx="7826189" cy="6858000"/>
          </a:xfrm>
          <a:prstGeom prst="rect">
            <a:avLst/>
          </a:prstGeom>
        </p:spPr>
      </p:pic>
    </p:spTree>
    <p:extLst>
      <p:ext uri="{BB962C8B-B14F-4D97-AF65-F5344CB8AC3E}">
        <p14:creationId xmlns:p14="http://schemas.microsoft.com/office/powerpoint/2010/main" val="2110348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5A69B-302E-752F-1BD1-0E7157846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04BCB-6672-55F7-7BA0-1342E95F8966}"/>
              </a:ext>
            </a:extLst>
          </p:cNvPr>
          <p:cNvSpPr>
            <a:spLocks noGrp="1"/>
          </p:cNvSpPr>
          <p:nvPr>
            <p:ph type="title"/>
          </p:nvPr>
        </p:nvSpPr>
        <p:spPr/>
        <p:txBody>
          <a:bodyPr/>
          <a:lstStyle/>
          <a:p>
            <a:r>
              <a:rPr lang="en-IN" dirty="0">
                <a:solidFill>
                  <a:schemeClr val="tx1">
                    <a:lumMod val="95000"/>
                    <a:lumOff val="5000"/>
                  </a:schemeClr>
                </a:solidFill>
              </a:rPr>
              <a:t>Supervised Learning (Classification)</a:t>
            </a:r>
            <a:endParaRPr lang="en-US" dirty="0"/>
          </a:p>
        </p:txBody>
      </p:sp>
      <p:sp>
        <p:nvSpPr>
          <p:cNvPr id="3" name="TextBox 2">
            <a:extLst>
              <a:ext uri="{FF2B5EF4-FFF2-40B4-BE49-F238E27FC236}">
                <a16:creationId xmlns:a16="http://schemas.microsoft.com/office/drawing/2014/main" id="{C4330191-E6A6-F898-7F64-F0FDDE1D8C4B}"/>
              </a:ext>
            </a:extLst>
          </p:cNvPr>
          <p:cNvSpPr txBox="1"/>
          <p:nvPr/>
        </p:nvSpPr>
        <p:spPr>
          <a:xfrm>
            <a:off x="603315" y="2507530"/>
            <a:ext cx="1103878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Apply various classification algorithms to predict product categories or other relevant labels based on features</a:t>
            </a:r>
            <a:endParaRPr lang="en-IN" dirty="0"/>
          </a:p>
        </p:txBody>
      </p:sp>
      <p:pic>
        <p:nvPicPr>
          <p:cNvPr id="5" name="Picture 4">
            <a:extLst>
              <a:ext uri="{FF2B5EF4-FFF2-40B4-BE49-F238E27FC236}">
                <a16:creationId xmlns:a16="http://schemas.microsoft.com/office/drawing/2014/main" id="{5F936B19-2645-D36E-E9E3-BAA17BE7CF77}"/>
              </a:ext>
            </a:extLst>
          </p:cNvPr>
          <p:cNvPicPr>
            <a:picLocks noChangeAspect="1"/>
          </p:cNvPicPr>
          <p:nvPr/>
        </p:nvPicPr>
        <p:blipFill>
          <a:blip r:embed="rId2"/>
          <a:stretch>
            <a:fillRect/>
          </a:stretch>
        </p:blipFill>
        <p:spPr>
          <a:xfrm>
            <a:off x="1348816" y="3226876"/>
            <a:ext cx="9173855" cy="2781688"/>
          </a:xfrm>
          <a:prstGeom prst="rect">
            <a:avLst/>
          </a:prstGeom>
        </p:spPr>
      </p:pic>
    </p:spTree>
    <p:extLst>
      <p:ext uri="{BB962C8B-B14F-4D97-AF65-F5344CB8AC3E}">
        <p14:creationId xmlns:p14="http://schemas.microsoft.com/office/powerpoint/2010/main" val="1266240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E1897-2E12-E57D-DF58-679DCBDE9F8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955A63B-B2DD-9BF2-CE6A-632F8BEAE60C}"/>
              </a:ext>
            </a:extLst>
          </p:cNvPr>
          <p:cNvPicPr>
            <a:picLocks noChangeAspect="1"/>
          </p:cNvPicPr>
          <p:nvPr/>
        </p:nvPicPr>
        <p:blipFill>
          <a:blip r:embed="rId2"/>
          <a:stretch>
            <a:fillRect/>
          </a:stretch>
        </p:blipFill>
        <p:spPr>
          <a:xfrm>
            <a:off x="1708500" y="0"/>
            <a:ext cx="8775000" cy="6858000"/>
          </a:xfrm>
          <a:prstGeom prst="rect">
            <a:avLst/>
          </a:prstGeom>
        </p:spPr>
      </p:pic>
    </p:spTree>
    <p:extLst>
      <p:ext uri="{BB962C8B-B14F-4D97-AF65-F5344CB8AC3E}">
        <p14:creationId xmlns:p14="http://schemas.microsoft.com/office/powerpoint/2010/main" val="3723217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59BE-FA94-608E-BEB7-57355DAF111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638DD70-C61A-DECB-E705-0C167820D1C1}"/>
              </a:ext>
            </a:extLst>
          </p:cNvPr>
          <p:cNvPicPr>
            <a:picLocks noChangeAspect="1"/>
          </p:cNvPicPr>
          <p:nvPr/>
        </p:nvPicPr>
        <p:blipFill>
          <a:blip r:embed="rId2"/>
          <a:stretch>
            <a:fillRect/>
          </a:stretch>
        </p:blipFill>
        <p:spPr>
          <a:xfrm>
            <a:off x="1461440" y="480601"/>
            <a:ext cx="9269119" cy="5896798"/>
          </a:xfrm>
          <a:prstGeom prst="rect">
            <a:avLst/>
          </a:prstGeom>
        </p:spPr>
      </p:pic>
    </p:spTree>
    <p:extLst>
      <p:ext uri="{BB962C8B-B14F-4D97-AF65-F5344CB8AC3E}">
        <p14:creationId xmlns:p14="http://schemas.microsoft.com/office/powerpoint/2010/main" val="26201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E4D06-597C-A09E-C1B2-E86AED590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07652-97E3-2EA7-0F53-9383766B64B9}"/>
              </a:ext>
            </a:extLst>
          </p:cNvPr>
          <p:cNvSpPr>
            <a:spLocks noGrp="1"/>
          </p:cNvSpPr>
          <p:nvPr>
            <p:ph type="title"/>
          </p:nvPr>
        </p:nvSpPr>
        <p:spPr/>
        <p:txBody>
          <a:bodyPr/>
          <a:lstStyle/>
          <a:p>
            <a:r>
              <a:rPr lang="en-IN" dirty="0">
                <a:solidFill>
                  <a:schemeClr val="tx1">
                    <a:lumMod val="95000"/>
                    <a:lumOff val="5000"/>
                  </a:schemeClr>
                </a:solidFill>
              </a:rPr>
              <a:t>Hyperparameter Tuning</a:t>
            </a:r>
            <a:endParaRPr lang="en-US" dirty="0"/>
          </a:p>
        </p:txBody>
      </p:sp>
      <p:pic>
        <p:nvPicPr>
          <p:cNvPr id="4" name="Picture 3">
            <a:extLst>
              <a:ext uri="{FF2B5EF4-FFF2-40B4-BE49-F238E27FC236}">
                <a16:creationId xmlns:a16="http://schemas.microsoft.com/office/drawing/2014/main" id="{7EC8A927-0622-C676-0E55-42B4DC6FAEB6}"/>
              </a:ext>
            </a:extLst>
          </p:cNvPr>
          <p:cNvPicPr>
            <a:picLocks noChangeAspect="1"/>
          </p:cNvPicPr>
          <p:nvPr/>
        </p:nvPicPr>
        <p:blipFill>
          <a:blip r:embed="rId2"/>
          <a:stretch>
            <a:fillRect/>
          </a:stretch>
        </p:blipFill>
        <p:spPr>
          <a:xfrm>
            <a:off x="1338892" y="2283922"/>
            <a:ext cx="9269119" cy="4458322"/>
          </a:xfrm>
          <a:prstGeom prst="rect">
            <a:avLst/>
          </a:prstGeom>
        </p:spPr>
      </p:pic>
    </p:spTree>
    <p:extLst>
      <p:ext uri="{BB962C8B-B14F-4D97-AF65-F5344CB8AC3E}">
        <p14:creationId xmlns:p14="http://schemas.microsoft.com/office/powerpoint/2010/main" val="2249347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5AED9"/>
        </a:solidFill>
        <a:effectLst/>
      </p:bgPr>
    </p:bg>
    <p:spTree>
      <p:nvGrpSpPr>
        <p:cNvPr id="1" name=""/>
        <p:cNvGrpSpPr/>
        <p:nvPr/>
      </p:nvGrpSpPr>
      <p:grpSpPr>
        <a:xfrm>
          <a:off x="0" y="0"/>
          <a:ext cx="0" cy="0"/>
          <a:chOff x="0" y="0"/>
          <a:chExt cx="0" cy="0"/>
        </a:xfrm>
      </p:grpSpPr>
      <p:pic>
        <p:nvPicPr>
          <p:cNvPr id="19" name="Picture Placeholder 18">
            <a:extLst>
              <a:ext uri="{FF2B5EF4-FFF2-40B4-BE49-F238E27FC236}">
                <a16:creationId xmlns:a16="http://schemas.microsoft.com/office/drawing/2014/main" id="{27AB12A0-63CF-1C51-8962-15AF8F3AFBE2}"/>
              </a:ext>
            </a:extLst>
          </p:cNvPr>
          <p:cNvPicPr>
            <a:picLocks noGrp="1" noChangeAspect="1"/>
          </p:cNvPicPr>
          <p:nvPr>
            <p:ph type="pic" sz="quarter" idx="16"/>
          </p:nvPr>
        </p:nvPicPr>
        <p:blipFill>
          <a:blip r:embed="rId2">
            <a:extLst>
              <a:ext uri="{837473B0-CC2E-450A-ABE3-18F120FF3D39}">
                <a1611:picAttrSrcUrl xmlns:a1611="http://schemas.microsoft.com/office/drawing/2016/11/main" r:id="rId3"/>
              </a:ext>
            </a:extLst>
          </a:blip>
          <a:srcRect l="23393" r="23393"/>
          <a:stretch>
            <a:fillRect/>
          </a:stretch>
        </p:blipFill>
        <p:spPr>
          <a:xfrm>
            <a:off x="5710238" y="0"/>
            <a:ext cx="6481762" cy="6858000"/>
          </a:xfrm>
        </p:spPr>
      </p:pic>
      <p:sp>
        <p:nvSpPr>
          <p:cNvPr id="4" name="Title 3">
            <a:extLst>
              <a:ext uri="{FF2B5EF4-FFF2-40B4-BE49-F238E27FC236}">
                <a16:creationId xmlns:a16="http://schemas.microsoft.com/office/drawing/2014/main" id="{8CA6E381-7CDD-4999-B9C7-CD31E749FD95}"/>
              </a:ext>
            </a:extLst>
          </p:cNvPr>
          <p:cNvSpPr>
            <a:spLocks noGrp="1"/>
          </p:cNvSpPr>
          <p:nvPr>
            <p:ph type="title"/>
          </p:nvPr>
        </p:nvSpPr>
        <p:spPr>
          <a:xfrm>
            <a:off x="1264390" y="3508514"/>
            <a:ext cx="3913897" cy="924408"/>
          </a:xfrm>
        </p:spPr>
        <p:txBody>
          <a:bodyPr/>
          <a:lstStyle/>
          <a:p>
            <a:r>
              <a:rPr lang="en-US" dirty="0"/>
              <a:t>Thank you</a:t>
            </a:r>
          </a:p>
        </p:txBody>
      </p:sp>
    </p:spTree>
    <p:extLst>
      <p:ext uri="{BB962C8B-B14F-4D97-AF65-F5344CB8AC3E}">
        <p14:creationId xmlns:p14="http://schemas.microsoft.com/office/powerpoint/2010/main" val="2420767862"/>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563CEF-D140-44C5-9563-E20FF9496DCB}">
  <ds:schemaRefs>
    <ds:schemaRef ds:uri="http://schemas.microsoft.com/sharepoint/v3/contenttype/forms"/>
  </ds:schemaRefs>
</ds:datastoreItem>
</file>

<file path=customXml/itemProps2.xml><?xml version="1.0" encoding="utf-8"?>
<ds:datastoreItem xmlns:ds="http://schemas.openxmlformats.org/officeDocument/2006/customXml" ds:itemID="{82D62371-ADEA-418E-8E24-008BFB84686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35E5DDD7-51B5-4930-B64B-01C58CE538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TM89080264</Template>
  <TotalTime>133</TotalTime>
  <Words>294</Words>
  <Application>Microsoft Office PowerPoint</Application>
  <PresentationFormat>Widescreen</PresentationFormat>
  <Paragraphs>40</Paragraphs>
  <Slides>18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Arial</vt:lpstr>
      <vt:lpstr>Arial Rounded MT Bold</vt:lpstr>
      <vt:lpstr>Calibri</vt:lpstr>
      <vt:lpstr>Century Gothic</vt:lpstr>
      <vt:lpstr>Elephant</vt:lpstr>
      <vt:lpstr>Gill Sans MT</vt:lpstr>
      <vt:lpstr>Brush</vt:lpstr>
      <vt:lpstr>Parcel</vt:lpstr>
      <vt:lpstr>Capstone Project : End-to-End  Data Science Project</vt:lpstr>
      <vt:lpstr>ProjPect Overview</vt:lpstr>
      <vt:lpstr>Agenda</vt:lpstr>
      <vt:lpstr>Web Scraping  </vt:lpstr>
      <vt:lpstr>PowerPoint Presentation</vt:lpstr>
      <vt:lpstr>PowerPoint Presentation</vt:lpstr>
      <vt:lpstr>Data Cleaning </vt:lpstr>
      <vt:lpstr>PowerPoint Presentation</vt:lpstr>
      <vt:lpstr>Exploratory Data Analysis (EDA)</vt:lpstr>
      <vt:lpstr>PowerPoint Presentation</vt:lpstr>
      <vt:lpstr>Unsupervised Learning (Clustering) </vt:lpstr>
      <vt:lpstr>PowerPoint Presentation</vt:lpstr>
      <vt:lpstr>PowerPoint Presentation</vt:lpstr>
      <vt:lpstr>Supervised Learning (Classification)</vt:lpstr>
      <vt:lpstr>PowerPoint Presentation</vt:lpstr>
      <vt:lpstr>PowerPoint Presentation</vt:lpstr>
      <vt:lpstr>Hyperparameter Tuning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Albin K A</cp:lastModifiedBy>
  <cp:revision>12</cp:revision>
  <dcterms:created xsi:type="dcterms:W3CDTF">2020-09-01T21:14:45Z</dcterms:created>
  <dcterms:modified xsi:type="dcterms:W3CDTF">2025-08-05T12:15:26Z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